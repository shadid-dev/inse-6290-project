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3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ChrisG5:Users:christopher:Desktop:Concordia%20Powerpoint:New_Concordia_PPT-1.jpg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 descr="ChrisG5:Users:christopher:Desktop:Concordia Powerpoint:New_Concordia_PPT-1.jpg">
            <a:extLst>
              <a:ext uri="{FF2B5EF4-FFF2-40B4-BE49-F238E27FC236}">
                <a16:creationId xmlns:a16="http://schemas.microsoft.com/office/drawing/2014/main" id="{C7D8704B-12E2-9D9D-44D9-F593EA6E33C8}"/>
              </a:ext>
            </a:extLst>
          </p:cNvPr>
          <p:cNvPicPr>
            <a:picLocks noChangeAspect="1" noChangeArrowheads="1"/>
          </p:cNvPicPr>
          <p:nvPr/>
        </p:nvPicPr>
        <p:blipFill>
          <a:blip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00400" y="2133600"/>
            <a:ext cx="5257800" cy="1295400"/>
          </a:xfrm>
        </p:spPr>
        <p:txBody>
          <a:bodyPr anchor="ctr"/>
          <a:lstStyle>
            <a:lvl1pPr algn="l">
              <a:defRPr sz="28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00400" y="3886200"/>
            <a:ext cx="5257800" cy="2133600"/>
          </a:xfrm>
        </p:spPr>
        <p:txBody>
          <a:bodyPr/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1774515"/>
      </p:ext>
    </p:extLst>
  </p:cSld>
  <p:clrMapOvr>
    <a:masterClrMapping/>
  </p:clrMapOvr>
  <p:transition spd="slow">
    <p:newsfla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685468"/>
      </p:ext>
    </p:extLst>
  </p:cSld>
  <p:clrMapOvr>
    <a:masterClrMapping/>
  </p:clrMapOvr>
  <p:transition spd="slow">
    <p:newsfla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9628682"/>
      </p:ext>
    </p:extLst>
  </p:cSld>
  <p:clrMapOvr>
    <a:masterClrMapping/>
  </p:clrMapOvr>
  <p:transition spd="slow">
    <p:newsfla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7061334"/>
      </p:ext>
    </p:extLst>
  </p:cSld>
  <p:clrMapOvr>
    <a:masterClrMapping/>
  </p:clrMapOvr>
  <p:transition spd="slow">
    <p:newsfla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6951120"/>
      </p:ext>
    </p:extLst>
  </p:cSld>
  <p:clrMapOvr>
    <a:masterClrMapping/>
  </p:clrMapOvr>
  <p:transition spd="slow">
    <p:newsfla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988028"/>
      </p:ext>
    </p:extLst>
  </p:cSld>
  <p:clrMapOvr>
    <a:masterClrMapping/>
  </p:clrMapOvr>
  <p:transition spd="slow">
    <p:newsfla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708403"/>
      </p:ext>
    </p:extLst>
  </p:cSld>
  <p:clrMapOvr>
    <a:masterClrMapping/>
  </p:clrMapOvr>
  <p:transition spd="slow">
    <p:newsfla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2777438"/>
      </p:ext>
    </p:extLst>
  </p:cSld>
  <p:clrMapOvr>
    <a:masterClrMapping/>
  </p:clrMapOvr>
  <p:transition spd="slow">
    <p:newsfla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7395732"/>
      </p:ext>
    </p:extLst>
  </p:cSld>
  <p:clrMapOvr>
    <a:masterClrMapping/>
  </p:clrMapOvr>
  <p:transition spd="slow">
    <p:newsfla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3730762"/>
      </p:ext>
    </p:extLst>
  </p:cSld>
  <p:clrMapOvr>
    <a:masterClrMapping/>
  </p:clrMapOvr>
  <p:transition spd="slow">
    <p:newsfla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7217995"/>
      </p:ext>
    </p:extLst>
  </p:cSld>
  <p:clrMapOvr>
    <a:masterClrMapping/>
  </p:clrMapOvr>
  <p:transition spd="slow">
    <p:newsfla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noProof="0"/>
              <a:t>Click icon to add online image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0499172"/>
      </p:ext>
    </p:extLst>
  </p:cSld>
  <p:clrMapOvr>
    <a:masterClrMapping/>
  </p:clrMapOvr>
  <p:transition spd="slow">
    <p:newsfla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030405"/>
      </p:ext>
    </p:extLst>
  </p:cSld>
  <p:clrMapOvr>
    <a:masterClrMapping/>
  </p:clrMapOvr>
  <p:transition spd="slow">
    <p:newsfla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ChrisG5:Users:christopher:Desktop:Concordia%20Powerpoint:New_Concordia_PPT-2.jpg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ChrisG5:Users:christopher:Desktop:Concordia Powerpoint:New_Concordia_PPT-2.jpg">
            <a:extLst>
              <a:ext uri="{FF2B5EF4-FFF2-40B4-BE49-F238E27FC236}">
                <a16:creationId xmlns:a16="http://schemas.microsoft.com/office/drawing/2014/main" id="{61322D2C-822E-0D67-77C8-82550F174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r:link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BF736D52-66BB-5F5D-9A1C-30348DCB76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5114607C-F1EA-BFB9-1E7F-7204448B2C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021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</p:sldLayoutIdLst>
  <p:transition spd="slow">
    <p:newsflash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GillSans Bold" pitchFamily="1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GillSans Bold" pitchFamily="1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GillSans Bold" pitchFamily="1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GillSans Bold" pitchFamily="1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GillSans Bold" pitchFamily="1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GillSans Bold" pitchFamily="1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GillSans Bold" pitchFamily="1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GillSans Bold" pitchFamily="1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AI-Based Demand Forecasting &amp; Inventory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INSE 6290 – Quality in Supply Chain Design</a:t>
            </a:r>
          </a:p>
          <a:p>
            <a:r>
              <a:t>Winter 2026</a:t>
            </a:r>
          </a:p>
          <a:p>
            <a:r>
              <a:t>Prepared by :-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814970"/>
              </p:ext>
            </p:extLst>
          </p:nvPr>
        </p:nvGraphicFramePr>
        <p:xfrm>
          <a:off x="914400" y="3965944"/>
          <a:ext cx="7315200" cy="2158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682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Student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dirty="0"/>
                        <a:t>Student 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682">
                <a:tc>
                  <a:txBody>
                    <a:bodyPr/>
                    <a:lstStyle/>
                    <a:p>
                      <a:r>
                        <a:t>1) Md Golam Raiyhan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40310101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682">
                <a:tc>
                  <a:txBody>
                    <a:bodyPr/>
                    <a:lstStyle/>
                    <a:p>
                      <a:r>
                        <a:t>2) Shadid Alam Al Huda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40334643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682">
                <a:tc>
                  <a:txBody>
                    <a:bodyPr/>
                    <a:lstStyle/>
                    <a:p>
                      <a:r>
                        <a:t>3) Afsana Tasnim Nishat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40311862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682">
                <a:tc>
                  <a:txBody>
                    <a:bodyPr/>
                    <a:lstStyle/>
                    <a:p>
                      <a:r>
                        <a:t>4) Dylan Zuzarte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40301182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48F2ED7-94EC-CA82-2551-6FCEFD6D5698}"/>
              </a:ext>
            </a:extLst>
          </p:cNvPr>
          <p:cNvSpPr txBox="1"/>
          <p:nvPr/>
        </p:nvSpPr>
        <p:spPr>
          <a:xfrm>
            <a:off x="-1041991" y="35087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>
    <p:newsfla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Food delivery demand is volatile and hard to predict</a:t>
            </a:r>
          </a:p>
          <a:p>
            <a:r>
              <a:t>• Ingredients are perishable and costly to waste</a:t>
            </a:r>
          </a:p>
          <a:p>
            <a:r>
              <a:t>• Managers need structured decision support</a:t>
            </a:r>
          </a:p>
          <a:p>
            <a:r>
              <a:t>• Goal: Build AI-based inventory optimization prototype</a:t>
            </a:r>
          </a:p>
        </p:txBody>
      </p:sp>
    </p:spTree>
  </p:cSld>
  <p:clrMapOvr>
    <a:masterClrMapping/>
  </p:clrMapOvr>
  <p:transition spd="slow">
    <p:newsfla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Demand uncertainty</a:t>
            </a:r>
          </a:p>
          <a:p>
            <a:r>
              <a:t>• Perishable inventory</a:t>
            </a:r>
          </a:p>
          <a:p>
            <a:r>
              <a:t>• Stockouts vs waste trade-off</a:t>
            </a:r>
          </a:p>
          <a:p>
            <a:r>
              <a:t>• Manual planning limitations</a:t>
            </a:r>
          </a:p>
        </p:txBody>
      </p:sp>
    </p:spTree>
  </p:cSld>
  <p:clrMapOvr>
    <a:masterClrMapping/>
  </p:clrMapOvr>
  <p:transition spd="slow">
    <p:newsfla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Forecast daily demand for menu items</a:t>
            </a:r>
          </a:p>
          <a:p>
            <a:r>
              <a:t>• Compare baseline vs AI forecasting</a:t>
            </a:r>
          </a:p>
          <a:p>
            <a:r>
              <a:t>• Optimize inventory replenishment</a:t>
            </a:r>
          </a:p>
          <a:p>
            <a:r>
              <a:t>• Simulate daily supply chain operations</a:t>
            </a:r>
          </a:p>
          <a:p>
            <a:r>
              <a:t>• Evaluate performance using supply chain KPIs</a:t>
            </a:r>
          </a:p>
        </p:txBody>
      </p:sp>
    </p:spTree>
  </p:cSld>
  <p:clrMapOvr>
    <a:masterClrMapping/>
  </p:clrMapOvr>
  <p:transition spd="slow">
    <p:newsfla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Single restaurant / cloud kitchen</a:t>
            </a:r>
          </a:p>
          <a:p>
            <a:r>
              <a:t>• 10 menu items</a:t>
            </a:r>
          </a:p>
          <a:p>
            <a:r>
              <a:t>• Daily demand planning</a:t>
            </a:r>
          </a:p>
          <a:p>
            <a:r>
              <a:t>• One-day lead time</a:t>
            </a:r>
          </a:p>
          <a:p>
            <a:r>
              <a:t>• Perishable inventory (3–4 days shelf life)</a:t>
            </a:r>
          </a:p>
          <a:p>
            <a:r>
              <a:t>• 14-day simulation horizon</a:t>
            </a:r>
          </a:p>
        </p:txBody>
      </p:sp>
    </p:spTree>
  </p:cSld>
  <p:clrMapOvr>
    <a:masterClrMapping/>
  </p:clrMapOvr>
  <p:transition spd="slow">
    <p:newsfla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(Architectural Diagram Placeholder)</a:t>
            </a:r>
          </a:p>
        </p:txBody>
      </p:sp>
    </p:spTree>
  </p:cSld>
  <p:clrMapOvr>
    <a:masterClrMapping/>
  </p:clrMapOvr>
  <p:transition spd="slow">
    <p:newsfla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90-day daily dataset</a:t>
            </a:r>
          </a:p>
          <a:p>
            <a:r>
              <a:t>• 900 observations</a:t>
            </a:r>
          </a:p>
          <a:p>
            <a:r>
              <a:t>• Weekly seasonality and noise</a:t>
            </a:r>
          </a:p>
          <a:p>
            <a:r>
              <a:t>• 69-day training, 14-day testing</a:t>
            </a:r>
          </a:p>
        </p:txBody>
      </p:sp>
    </p:spTree>
  </p:cSld>
  <p:clrMapOvr>
    <a:masterClrMapping/>
  </p:clrMapOvr>
  <p:transition spd="slow">
    <p:newsfla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Synthetic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access to real restaurant POS data</a:t>
            </a:r>
          </a:p>
          <a:p>
            <a:r>
              <a:t>• Synthetic data allows controlled experimentation</a:t>
            </a:r>
          </a:p>
          <a:p>
            <a:r>
              <a:t>• Patterns designed to mimic real behavior</a:t>
            </a:r>
          </a:p>
          <a:p>
            <a:r>
              <a:t>• Ensures reproducibility and transparency</a:t>
            </a:r>
          </a:p>
        </p:txBody>
      </p:sp>
    </p:spTree>
  </p:cSld>
  <p:clrMapOvr>
    <a:masterClrMapping/>
  </p:clrMapOvr>
  <p:transition spd="slow">
    <p:newsfla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Dataset Was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Generated 90 days of daily demand</a:t>
            </a:r>
          </a:p>
          <a:p>
            <a:r>
              <a:t>• Included weekly seasonality</a:t>
            </a:r>
          </a:p>
          <a:p>
            <a:r>
              <a:t>• Weekend and promotion effects added</a:t>
            </a:r>
          </a:p>
          <a:p>
            <a:r>
              <a:t>• Random noise models demand uncertainty</a:t>
            </a:r>
          </a:p>
        </p:txBody>
      </p:sp>
    </p:spTree>
  </p:cSld>
  <p:clrMapOvr>
    <a:masterClrMapping/>
  </p:clrMapOvr>
  <p:transition spd="slow">
    <p:newsfla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Converted raw demand into learning features</a:t>
            </a:r>
          </a:p>
          <a:p>
            <a:r>
              <a:t>• Lag variables capture recent history</a:t>
            </a:r>
          </a:p>
          <a:p>
            <a:r>
              <a:t>• Rolling averages smooth short-term noise</a:t>
            </a:r>
          </a:p>
          <a:p>
            <a:r>
              <a:t>• Calendar features encode weekday patterns</a:t>
            </a:r>
          </a:p>
        </p:txBody>
      </p:sp>
    </p:spTree>
  </p:cSld>
  <p:clrMapOvr>
    <a:masterClrMapping/>
  </p:clrMapOvr>
  <p:transition spd="slow">
    <p:newsfla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Demand Forecasting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Baseline Forecast Logic:</a:t>
            </a:r>
          </a:p>
          <a:p>
            <a:r>
              <a:t>• Uses demand from one week earlier</a:t>
            </a:r>
          </a:p>
          <a:p>
            <a:r>
              <a:t>• Simple and transparent heuristic</a:t>
            </a:r>
          </a:p>
          <a:p>
            <a:r>
              <a:t>• Represents common operational practice</a:t>
            </a:r>
          </a:p>
          <a:p>
            <a:r>
              <a:t>• Serves as performance benchmark</a:t>
            </a:r>
          </a:p>
          <a:p>
            <a:endParaRPr/>
          </a:p>
          <a:p>
            <a:r>
              <a:t>Random Forest regressor:</a:t>
            </a:r>
          </a:p>
          <a:p>
            <a:r>
              <a:t>• Works well with structured tabular data</a:t>
            </a:r>
          </a:p>
          <a:p>
            <a:r>
              <a:t>• Captures non-linear relationships</a:t>
            </a:r>
          </a:p>
          <a:p>
            <a:r>
              <a:t>• Robust with limited data</a:t>
            </a:r>
          </a:p>
          <a:p>
            <a:r>
              <a:t>• Easy to interpret feature importance</a:t>
            </a:r>
          </a:p>
        </p:txBody>
      </p:sp>
    </p:spTree>
  </p:cSld>
  <p:clrMapOvr>
    <a:masterClrMapping/>
  </p:clrMapOvr>
  <p:transition spd="slow">
    <p:newsfla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Forecast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Train model on historical features</a:t>
            </a:r>
          </a:p>
          <a:p>
            <a:r>
              <a:t>• Generate daily demand predictions</a:t>
            </a:r>
          </a:p>
          <a:p>
            <a:r>
              <a:t>• Estimate forecast uncertainty</a:t>
            </a:r>
          </a:p>
          <a:p>
            <a:r>
              <a:t>• Pass forecasts to inventory decision model</a:t>
            </a:r>
          </a:p>
        </p:txBody>
      </p:sp>
    </p:spTree>
  </p:cSld>
  <p:clrMapOvr>
    <a:masterClrMapping/>
  </p:clrMapOvr>
  <p:transition spd="slow">
    <p:newsfla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Decision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Objective: Determine optimal order quantity for each menu item</a:t>
            </a:r>
          </a:p>
          <a:p>
            <a:endParaRPr/>
          </a:p>
          <a:p>
            <a:r>
              <a:t>Method Used: Demand forecasting &amp; Newsvendor inventory optimization policy</a:t>
            </a:r>
          </a:p>
          <a:p>
            <a:endParaRPr/>
          </a:p>
          <a:p>
            <a:r>
              <a:t>Optimization Formula:</a:t>
            </a:r>
          </a:p>
          <a:p>
            <a:r>
              <a:t>• Order Quantity = Forecast Demand + Safety Buffer</a:t>
            </a:r>
          </a:p>
          <a:p>
            <a:r>
              <a:t>• Q = μ + zσ</a:t>
            </a:r>
          </a:p>
          <a:p>
            <a:endParaRPr/>
          </a:p>
          <a:p>
            <a:r>
              <a:t>Purpose:</a:t>
            </a:r>
          </a:p>
          <a:p>
            <a:r>
              <a:t>• Reduce over-ordering</a:t>
            </a:r>
          </a:p>
          <a:p>
            <a:r>
              <a:t>• Reduce stockouts</a:t>
            </a:r>
          </a:p>
          <a:p>
            <a:r>
              <a:t>• Improve inventory efficiency</a:t>
            </a:r>
          </a:p>
        </p:txBody>
      </p:sp>
    </p:spTree>
  </p:cSld>
  <p:clrMapOvr>
    <a:masterClrMapping/>
  </p:clrMapOvr>
  <p:transition spd="slow">
    <p:newsfla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Perishability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Inventory tracked by age buckets</a:t>
            </a:r>
          </a:p>
          <a:p>
            <a:r>
              <a:t>• Oldest units consumed first</a:t>
            </a:r>
          </a:p>
          <a:p>
            <a:r>
              <a:t>• Expired items counted as waste</a:t>
            </a:r>
          </a:p>
          <a:p>
            <a:r>
              <a:t>• New orders added as freshest stock</a:t>
            </a:r>
          </a:p>
        </p:txBody>
      </p:sp>
    </p:spTree>
  </p:cSld>
  <p:clrMapOvr>
    <a:masterClrMapping/>
  </p:clrMapOvr>
  <p:transition spd="slow">
    <p:newsfla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Purpose of Simulation: Evaluate inventory decisions</a:t>
            </a:r>
          </a:p>
          <a:p>
            <a:endParaRPr/>
          </a:p>
          <a:p>
            <a:r>
              <a:t>Simulation Steps:</a:t>
            </a:r>
          </a:p>
          <a:p>
            <a:r>
              <a:t>• Forecast demand</a:t>
            </a:r>
          </a:p>
          <a:p>
            <a:r>
              <a:t>• Calculate optimal order</a:t>
            </a:r>
          </a:p>
          <a:p>
            <a:r>
              <a:t>• Update inventory</a:t>
            </a:r>
          </a:p>
          <a:p>
            <a:r>
              <a:t>• Meet customer demand</a:t>
            </a:r>
          </a:p>
          <a:p>
            <a:r>
              <a:t>• Track waste and stockouts</a:t>
            </a:r>
          </a:p>
          <a:p>
            <a:endParaRPr/>
          </a:p>
          <a:p>
            <a:r>
              <a:t>Simulation Horizon: 14-day operational simulation</a:t>
            </a:r>
          </a:p>
        </p:txBody>
      </p:sp>
    </p:spTree>
  </p:cSld>
  <p:clrMapOvr>
    <a:masterClrMapping/>
  </p:clrMapOvr>
  <p:transition spd="slow">
    <p:newsfla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Simulation Instead of only Optimization?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Optimization alone:</a:t>
            </a:r>
          </a:p>
          <a:p>
            <a:r>
              <a:t>• Assumes perfect conditions</a:t>
            </a:r>
          </a:p>
          <a:p>
            <a:r>
              <a:t>• Does not capture real operational uncertainty</a:t>
            </a:r>
          </a:p>
          <a:p>
            <a:r>
              <a:t>• Cannot evaluate daily inventory behavior</a:t>
            </a:r>
          </a:p>
          <a:p>
            <a:r>
              <a:t>• Does not measure waste and stockouts over time</a:t>
            </a:r>
          </a:p>
          <a:p>
            <a:endParaRPr/>
          </a:p>
          <a:p>
            <a:r>
              <a:t>Simulation allows us to:</a:t>
            </a:r>
          </a:p>
          <a:p>
            <a:r>
              <a:t>• Test inventory decisions in realistic conditions</a:t>
            </a:r>
          </a:p>
          <a:p>
            <a:r>
              <a:t>• Model demand variability and uncertainty</a:t>
            </a:r>
          </a:p>
          <a:p>
            <a:r>
              <a:t>• Track perishable inventory and food waste</a:t>
            </a:r>
          </a:p>
          <a:p>
            <a:r>
              <a:t>• Evaluate daily supply chain operations</a:t>
            </a:r>
          </a:p>
          <a:p>
            <a:r>
              <a:t>• Compare baseline vs AI-based decisions</a:t>
            </a:r>
          </a:p>
        </p:txBody>
      </p:sp>
    </p:spTree>
  </p:cSld>
  <p:clrMapOvr>
    <a:masterClrMapping/>
  </p:clrMapOvr>
  <p:transition spd="slow">
    <p:newsfla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Fill rate: service performance</a:t>
            </a:r>
          </a:p>
          <a:p>
            <a:r>
              <a:t>• Stockout rate: unmet demand</a:t>
            </a:r>
          </a:p>
          <a:p>
            <a:r>
              <a:t>• Food waste percentage: sustainability</a:t>
            </a:r>
          </a:p>
          <a:p>
            <a:r>
              <a:t>• Inventory turnover: efficiency</a:t>
            </a:r>
          </a:p>
        </p:txBody>
      </p:sp>
    </p:spTree>
  </p:cSld>
  <p:clrMapOvr>
    <a:masterClrMapping/>
  </p:clrMapOvr>
  <p:transition spd="slow">
    <p:newsfla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Potential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Limitations:</a:t>
            </a:r>
          </a:p>
          <a:p>
            <a:r>
              <a:t>• Synthetic demand data</a:t>
            </a:r>
          </a:p>
          <a:p>
            <a:r>
              <a:t>• No supplier constraints modeled</a:t>
            </a:r>
          </a:p>
          <a:p>
            <a:r>
              <a:t>• Fixed lead times and costs</a:t>
            </a:r>
          </a:p>
          <a:p>
            <a:endParaRPr/>
          </a:p>
          <a:p>
            <a:r>
              <a:t>Potential Extensions:</a:t>
            </a:r>
          </a:p>
          <a:p>
            <a:r>
              <a:t>• Real POS data integration</a:t>
            </a:r>
          </a:p>
          <a:p>
            <a:r>
              <a:t>• Multiple restaurants</a:t>
            </a:r>
          </a:p>
          <a:p>
            <a:r>
              <a:t>• Weather and promotion effects</a:t>
            </a:r>
          </a:p>
        </p:txBody>
      </p:sp>
    </p:spTree>
  </p:cSld>
  <p:clrMapOvr>
    <a:masterClrMapping/>
  </p:clrMapOvr>
  <p:transition spd="slow">
    <p:newsfla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Project demonstrates end-to-end design</a:t>
            </a:r>
          </a:p>
          <a:p>
            <a:r>
              <a:t>• Emphasis on explainability and structure</a:t>
            </a:r>
          </a:p>
          <a:p>
            <a:r>
              <a:t>• AI used as decision support, not replacement</a:t>
            </a:r>
          </a:p>
          <a:p>
            <a:r>
              <a:t>• Foundation for more advanced systems</a:t>
            </a:r>
          </a:p>
        </p:txBody>
      </p:sp>
    </p:spTree>
  </p:cSld>
  <p:clrMapOvr>
    <a:masterClrMapping/>
  </p:clrMapOvr>
  <p:transition spd="slow">
    <p:newsflash/>
  </p:transition>
</p:sld>
</file>

<file path=ppt/theme/theme1.xml><?xml version="1.0" encoding="utf-8"?>
<a:theme xmlns:a="http://schemas.openxmlformats.org/drawingml/2006/main" name="Concordia-PPT">
  <a:themeElements>
    <a:clrScheme name="Concordia-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ncordia-PPT">
      <a:majorFont>
        <a:latin typeface="GillSans Bold"/>
        <a:ea typeface=""/>
        <a:cs typeface=""/>
      </a:majorFont>
      <a:minorFont>
        <a:latin typeface="Gil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lnDef>
  </a:objectDefaults>
  <a:extraClrSchemeLst>
    <a:extraClrScheme>
      <a:clrScheme name="Concordia-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ordia-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ordia-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ordia-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ordia-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ordia-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ordia-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ordia-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ordia-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ordia-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ordia-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ordia-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2</TotalTime>
  <Words>634</Words>
  <Application>Microsoft Macintosh PowerPoint</Application>
  <PresentationFormat>On-screen Show (4:3)</PresentationFormat>
  <Paragraphs>138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Gill Sans</vt:lpstr>
      <vt:lpstr>GillSans Bold</vt:lpstr>
      <vt:lpstr>Times</vt:lpstr>
      <vt:lpstr>Concordia-PPT</vt:lpstr>
      <vt:lpstr>AI-Based Demand Forecasting &amp; Inventory Optimization</vt:lpstr>
      <vt:lpstr>Motivation and Context</vt:lpstr>
      <vt:lpstr>Problem Statement</vt:lpstr>
      <vt:lpstr>Objectives</vt:lpstr>
      <vt:lpstr>Scope &amp; Assumptions</vt:lpstr>
      <vt:lpstr>System Architecture</vt:lpstr>
      <vt:lpstr>Dataset Design</vt:lpstr>
      <vt:lpstr>Why Synthetic Data?</vt:lpstr>
      <vt:lpstr>How the Dataset Was Built</vt:lpstr>
      <vt:lpstr>Feature Engineering Process</vt:lpstr>
      <vt:lpstr>Demand Forecasting Approach</vt:lpstr>
      <vt:lpstr>AI Forecast Workflow</vt:lpstr>
      <vt:lpstr>Inventory Decision Philosophy</vt:lpstr>
      <vt:lpstr>Handling Perishability</vt:lpstr>
      <vt:lpstr>Simulation</vt:lpstr>
      <vt:lpstr>Why Simulation Instead of only Optimization?</vt:lpstr>
      <vt:lpstr>Evaluation Metrics</vt:lpstr>
      <vt:lpstr>Limitations &amp; Potential Extensions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Shadid Al Huda</cp:lastModifiedBy>
  <cp:revision>3</cp:revision>
  <dcterms:created xsi:type="dcterms:W3CDTF">2013-01-27T09:14:16Z</dcterms:created>
  <dcterms:modified xsi:type="dcterms:W3CDTF">2026-04-08T00:29:19Z</dcterms:modified>
  <cp:category/>
</cp:coreProperties>
</file>
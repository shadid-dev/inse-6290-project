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72" r:id="rId14"/>
    <p:sldId id="274" r:id="rId15"/>
    <p:sldId id="275" r:id="rId16"/>
    <p:sldId id="276" r:id="rId17"/>
    <p:sldId id="277" r:id="rId18"/>
    <p:sldId id="273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DB93E-093B-3FCA-DCF5-02B454855371}" v="249" dt="2026-04-07T23:35:37.420"/>
    <p1510:client id="{89E5C00C-E6FE-5399-3987-B3DB9F4BFBE8}" v="3" dt="2026-04-07T19:53:55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Demand Forecasting &amp; Inventory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INSE 6290 – Quality in Supply Chain Design</a:t>
            </a:r>
          </a:p>
          <a:p>
            <a:r>
              <a:t>Winter 2026</a:t>
            </a:r>
          </a:p>
        </p:txBody>
      </p:sp>
    </p:spTree>
    <p:extLst>
      <p:ext uri="{BB962C8B-B14F-4D97-AF65-F5344CB8AC3E}">
        <p14:creationId xmlns:p14="http://schemas.microsoft.com/office/powerpoint/2010/main" val="131131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Food delivery demand is volatile and hard to predict</a:t>
            </a:r>
          </a:p>
          <a:p>
            <a:r>
              <a:t>Ingredients are perishable and costly to waste</a:t>
            </a:r>
          </a:p>
          <a:p>
            <a:r>
              <a:t>Managers need structured decision support</a:t>
            </a:r>
          </a:p>
          <a:p>
            <a:r>
              <a:t>Goal: </a:t>
            </a:r>
            <a:r>
              <a:rPr lang="en-US">
                <a:ea typeface="+mn-lt"/>
                <a:cs typeface="+mn-lt"/>
              </a:rPr>
              <a:t>Build AI-based inventory optimization prototype</a:t>
            </a:r>
          </a:p>
        </p:txBody>
      </p:sp>
    </p:spTree>
    <p:extLst>
      <p:ext uri="{BB962C8B-B14F-4D97-AF65-F5344CB8AC3E}">
        <p14:creationId xmlns:p14="http://schemas.microsoft.com/office/powerpoint/2010/main" val="279576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Demand uncertainty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Perishable inventory </a:t>
            </a:r>
            <a:endParaRPr/>
          </a:p>
          <a:p>
            <a:r>
              <a:rPr lang="en-US">
                <a:ea typeface="+mn-lt"/>
                <a:cs typeface="+mn-lt"/>
              </a:rPr>
              <a:t>Stockouts vs waste trade-off </a:t>
            </a:r>
            <a:endParaRPr/>
          </a:p>
          <a:p>
            <a:r>
              <a:rPr lang="en-US">
                <a:ea typeface="+mn-lt"/>
                <a:cs typeface="+mn-lt"/>
              </a:rPr>
              <a:t>Manual planning limitations</a:t>
            </a:r>
            <a:endParaRPr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22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Forecast daily demand for menu items </a:t>
            </a:r>
            <a:endParaRPr/>
          </a:p>
          <a:p>
            <a:r>
              <a:rPr lang="en-US">
                <a:ea typeface="+mn-lt"/>
                <a:cs typeface="+mn-lt"/>
              </a:rPr>
              <a:t>Compare baseline vs AI forecasting </a:t>
            </a:r>
            <a:endParaRPr/>
          </a:p>
          <a:p>
            <a:r>
              <a:rPr lang="en-US" dirty="0">
                <a:ea typeface="+mn-lt"/>
                <a:cs typeface="+mn-lt"/>
              </a:rPr>
              <a:t>Optimize inventory replenishment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Simulate daily supply chain operations </a:t>
            </a:r>
            <a:endParaRPr/>
          </a:p>
          <a:p>
            <a:r>
              <a:rPr lang="en-US">
                <a:ea typeface="+mn-lt"/>
                <a:cs typeface="+mn-lt"/>
              </a:rPr>
              <a:t>Evaluate performance using supply chain KPIs</a:t>
            </a:r>
            <a:endParaRPr lang="en-US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92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Single restaurant / cloud kitchen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10 menu items </a:t>
            </a:r>
            <a:endParaRPr/>
          </a:p>
          <a:p>
            <a:r>
              <a:rPr lang="en-US">
                <a:ea typeface="+mn-lt"/>
                <a:cs typeface="+mn-lt"/>
              </a:rPr>
              <a:t>Daily demand planning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One-day lead time </a:t>
            </a:r>
            <a:endParaRPr/>
          </a:p>
          <a:p>
            <a:r>
              <a:rPr lang="en-US">
                <a:ea typeface="+mn-lt"/>
                <a:cs typeface="+mn-lt"/>
              </a:rPr>
              <a:t>Perishable inventory (3–4 days shelf life)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14-day simulation horizon</a:t>
            </a:r>
            <a:endParaRPr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8414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pic>
        <p:nvPicPr>
          <p:cNvPr id="4" name="Content Placeholder 3" descr="A diagram of a forecasting model&#10;&#10;AI-generated content may be incorrect.">
            <a:extLst>
              <a:ext uri="{FF2B5EF4-FFF2-40B4-BE49-F238E27FC236}">
                <a16:creationId xmlns:a16="http://schemas.microsoft.com/office/drawing/2014/main" id="{C1093CAE-2709-C503-AB65-5048EF6B7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240"/>
            <a:ext cx="10515600" cy="374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9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90-day daily dataset</a:t>
            </a:r>
            <a:endParaRPr lang="en-US"/>
          </a:p>
          <a:p>
            <a:r>
              <a:t>900 observations</a:t>
            </a:r>
          </a:p>
          <a:p>
            <a:r>
              <a:t>Weekly seasonality and noise</a:t>
            </a:r>
          </a:p>
          <a:p>
            <a:r>
              <a:t>69-day training, 14-day testing</a:t>
            </a:r>
          </a:p>
        </p:txBody>
      </p:sp>
    </p:spTree>
    <p:extLst>
      <p:ext uri="{BB962C8B-B14F-4D97-AF65-F5344CB8AC3E}">
        <p14:creationId xmlns:p14="http://schemas.microsoft.com/office/powerpoint/2010/main" val="50724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Synthetic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access to real restaurant POS data</a:t>
            </a:r>
          </a:p>
          <a:p>
            <a:r>
              <a:t>Synthetic data allows controlled experimentation</a:t>
            </a:r>
          </a:p>
          <a:p>
            <a:r>
              <a:t>Patterns designed to mimic real behavior</a:t>
            </a:r>
          </a:p>
          <a:p>
            <a:r>
              <a:t>Ensures reproducibility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75574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Dataset Was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90 days of daily demand</a:t>
            </a:r>
          </a:p>
          <a:p>
            <a:r>
              <a:t>Included weekly seasonality</a:t>
            </a:r>
          </a:p>
          <a:p>
            <a:r>
              <a:t>Weekend and promotion effects added</a:t>
            </a:r>
          </a:p>
          <a:p>
            <a:r>
              <a:t>Random noise models demand uncertainty</a:t>
            </a:r>
          </a:p>
        </p:txBody>
      </p:sp>
    </p:spTree>
    <p:extLst>
      <p:ext uri="{BB962C8B-B14F-4D97-AF65-F5344CB8AC3E}">
        <p14:creationId xmlns:p14="http://schemas.microsoft.com/office/powerpoint/2010/main" val="194011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raw demand into learning features</a:t>
            </a:r>
          </a:p>
          <a:p>
            <a:r>
              <a:t>Lag variables capture recent history</a:t>
            </a:r>
          </a:p>
          <a:p>
            <a:r>
              <a:t>Rolling averages smooth short-term noise</a:t>
            </a:r>
          </a:p>
          <a:p>
            <a:r>
              <a:t>Calendar features encode weekday patterns</a:t>
            </a:r>
          </a:p>
        </p:txBody>
      </p:sp>
    </p:spTree>
    <p:extLst>
      <p:ext uri="{BB962C8B-B14F-4D97-AF65-F5344CB8AC3E}">
        <p14:creationId xmlns:p14="http://schemas.microsoft.com/office/powerpoint/2010/main" val="118377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</a:t>
            </a:r>
            <a:r>
              <a:rPr lang="en-US" dirty="0" err="1"/>
              <a:t>Forcasting</a:t>
            </a:r>
            <a:r>
              <a:rPr lang="en-US" dirty="0"/>
              <a:t> 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4400">
                <a:latin typeface="Aptos Display"/>
              </a:rPr>
              <a:t>Baseline Forecast Logic: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latin typeface="Aptos" panose="020B0004020202020204"/>
              </a:rPr>
              <a:t>Uses demand from one week earlier</a:t>
            </a:r>
          </a:p>
          <a:p>
            <a:pPr>
              <a:buFont typeface="Arial"/>
              <a:buChar char="•"/>
            </a:pPr>
            <a:r>
              <a:rPr lang="en-US">
                <a:latin typeface="Aptos" panose="020B0004020202020204"/>
              </a:rPr>
              <a:t>Simple and transparent heuristic</a:t>
            </a:r>
          </a:p>
          <a:p>
            <a:pPr>
              <a:buFont typeface="Arial"/>
              <a:buChar char="•"/>
            </a:pPr>
            <a:r>
              <a:rPr lang="en-US" dirty="0">
                <a:latin typeface="Aptos" panose="020B0004020202020204"/>
              </a:rPr>
              <a:t>Represents common operational practice</a:t>
            </a:r>
          </a:p>
          <a:p>
            <a:pPr>
              <a:buFont typeface="Arial"/>
              <a:buChar char="•"/>
            </a:pPr>
            <a:r>
              <a:rPr lang="en-US">
                <a:latin typeface="Aptos" panose="020B0004020202020204"/>
              </a:rPr>
              <a:t>Serves as performance benchmark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/>
              <a:t>Random Forest regressor</a:t>
            </a:r>
            <a:r>
              <a:rPr lang="en-US" b="1"/>
              <a:t>:</a:t>
            </a:r>
            <a:endParaRPr b="1"/>
          </a:p>
          <a:p>
            <a:pPr>
              <a:buFont typeface="Arial"/>
              <a:buChar char="•"/>
            </a:pPr>
            <a:r>
              <a:rPr lang="en-US"/>
              <a:t>Works well with structured tabular data</a:t>
            </a:r>
          </a:p>
          <a:p>
            <a:pPr>
              <a:buFont typeface="Arial"/>
              <a:buChar char="•"/>
            </a:pPr>
            <a:r>
              <a:rPr lang="en-US"/>
              <a:t>Captures non-linear relationships</a:t>
            </a:r>
          </a:p>
          <a:p>
            <a:pPr>
              <a:buFont typeface="Arial"/>
              <a:buChar char="•"/>
            </a:pPr>
            <a:r>
              <a:rPr lang="en-US"/>
              <a:t>Robust with limited data</a:t>
            </a:r>
          </a:p>
          <a:p>
            <a:pPr>
              <a:buFont typeface="Arial"/>
              <a:buChar char="•"/>
            </a:pPr>
            <a:r>
              <a:rPr lang="en-US"/>
              <a:t>Easy to interpret feature importance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730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Forecast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model on historical features</a:t>
            </a:r>
          </a:p>
          <a:p>
            <a:r>
              <a:t>Generate daily demand predictions</a:t>
            </a:r>
          </a:p>
          <a:p>
            <a:r>
              <a:t>Estimate forecast uncertainty</a:t>
            </a:r>
          </a:p>
          <a:p>
            <a:r>
              <a:t>Pass forecasts to inventory decision model</a:t>
            </a:r>
          </a:p>
        </p:txBody>
      </p:sp>
    </p:spTree>
    <p:extLst>
      <p:ext uri="{BB962C8B-B14F-4D97-AF65-F5344CB8AC3E}">
        <p14:creationId xmlns:p14="http://schemas.microsoft.com/office/powerpoint/2010/main" val="142668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Decision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>
                <a:latin typeface="Calibri"/>
                <a:ea typeface="Calibri"/>
                <a:cs typeface="Calibri"/>
              </a:rPr>
              <a:t>Objective:</a:t>
            </a:r>
            <a:endParaRPr lang="en-US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Determine optimal order quantity for each menu item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>
                <a:latin typeface="Calibri"/>
                <a:ea typeface="Calibri"/>
                <a:cs typeface="Calibri"/>
              </a:rPr>
              <a:t>Method Used: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Demand forecasting 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Newsvendor inventory optimization policy</a:t>
            </a:r>
            <a:endParaRPr lang="en-US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>
                <a:latin typeface="Calibri"/>
                <a:ea typeface="Calibri"/>
                <a:cs typeface="Calibri"/>
              </a:rPr>
              <a:t>Optimization Formula: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Order Quantity = Forecast Demand + </a:t>
            </a:r>
            <a:r>
              <a:rPr lang="en-US" sz="3200">
                <a:latin typeface="Calibri"/>
                <a:ea typeface="Calibri"/>
                <a:cs typeface="Calibri"/>
              </a:rPr>
              <a:t>Safety Buffer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ea typeface="+mn-lt"/>
                <a:cs typeface="+mn-lt"/>
              </a:rPr>
              <a:t>Q = μ + </a:t>
            </a:r>
            <a:r>
              <a:rPr lang="en-US" sz="3200" dirty="0" err="1">
                <a:ea typeface="+mn-lt"/>
                <a:cs typeface="+mn-lt"/>
              </a:rPr>
              <a:t>zσ</a:t>
            </a:r>
            <a:endParaRPr lang="en-US" sz="3200" dirty="0" err="1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>
                <a:latin typeface="Calibri"/>
                <a:ea typeface="Calibri"/>
                <a:cs typeface="Calibri"/>
              </a:rPr>
              <a:t>Purpose:</a:t>
            </a:r>
            <a:endParaRPr lang="en-US" b="1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Reduce over-ordering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Reduce stockouts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Improve inventory efficiency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983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Perishability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tracked by age buckets</a:t>
            </a:r>
          </a:p>
          <a:p>
            <a:r>
              <a:t>Oldest units consumed first</a:t>
            </a:r>
          </a:p>
          <a:p>
            <a:r>
              <a:t>Expired items counted as waste</a:t>
            </a:r>
          </a:p>
          <a:p>
            <a:r>
              <a:t>New orders added as freshest stock</a:t>
            </a:r>
          </a:p>
        </p:txBody>
      </p:sp>
    </p:spTree>
    <p:extLst>
      <p:ext uri="{BB962C8B-B14F-4D97-AF65-F5344CB8AC3E}">
        <p14:creationId xmlns:p14="http://schemas.microsoft.com/office/powerpoint/2010/main" val="307175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 u="sng">
                <a:latin typeface="Calibri"/>
                <a:ea typeface="Calibri"/>
                <a:cs typeface="Calibri"/>
              </a:rPr>
              <a:t>Purpose of Simulation</a:t>
            </a:r>
            <a:r>
              <a:rPr lang="en-US" sz="3200" b="1">
                <a:latin typeface="Calibri"/>
                <a:ea typeface="Calibri"/>
                <a:cs typeface="Calibri"/>
              </a:rPr>
              <a:t>:</a:t>
            </a:r>
            <a:endParaRPr lang="en-US" b="1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Evaluate inventory decisions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 u="sng">
                <a:latin typeface="Calibri"/>
                <a:ea typeface="Calibri"/>
                <a:cs typeface="Calibri"/>
              </a:rPr>
              <a:t>Simulation Steps</a:t>
            </a:r>
            <a:r>
              <a:rPr lang="en-US" sz="3200" b="1">
                <a:latin typeface="Calibri"/>
                <a:ea typeface="Calibri"/>
                <a:cs typeface="Calibri"/>
              </a:rPr>
              <a:t>: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Forecast demand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 dirty="0">
                <a:latin typeface="Calibri"/>
                <a:ea typeface="Calibri"/>
                <a:cs typeface="Calibri"/>
              </a:rPr>
              <a:t>Calculate optimal order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Update inventory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Meet customer demand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Track waste and stockouts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32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3200" b="1" u="sng">
                <a:latin typeface="Calibri"/>
                <a:ea typeface="Calibri"/>
                <a:cs typeface="Calibri"/>
              </a:rPr>
              <a:t>Simulation Horizon</a:t>
            </a:r>
            <a:r>
              <a:rPr lang="en-US" sz="3200" b="1">
                <a:latin typeface="Calibri"/>
                <a:ea typeface="Calibri"/>
                <a:cs typeface="Calibri"/>
              </a:rPr>
              <a:t>:</a:t>
            </a:r>
            <a:endParaRPr lang="en-US" b="1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3200">
                <a:latin typeface="Calibri"/>
                <a:ea typeface="Calibri"/>
                <a:cs typeface="Calibri"/>
              </a:rPr>
              <a:t>14-day operational simulation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1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Why Simulation Instead of only Optimization</a:t>
            </a:r>
            <a:r>
              <a:rPr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Optimization alone: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Assumes perfect conditions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Does not capture real operational uncertainty </a:t>
            </a:r>
            <a:endParaRPr/>
          </a:p>
          <a:p>
            <a:r>
              <a:rPr lang="en-US">
                <a:ea typeface="+mn-lt"/>
                <a:cs typeface="+mn-lt"/>
              </a:rPr>
              <a:t>Cannot evaluate daily inventory behavior </a:t>
            </a:r>
            <a:endParaRPr/>
          </a:p>
          <a:p>
            <a:r>
              <a:rPr lang="en-US">
                <a:ea typeface="+mn-lt"/>
                <a:cs typeface="+mn-lt"/>
              </a:rPr>
              <a:t>Does not measure waste and stockouts over time</a:t>
            </a:r>
            <a:endParaRPr/>
          </a:p>
          <a:p>
            <a:endParaRPr dirty="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Simulation allows us to: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Test inventory decisions in realistic conditions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Model demand variability and uncertainty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Track perishable inventory and food waste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Evaluate daily supply chain operations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Compare baseline vs AI-based decisions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2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Fill rate: service performance</a:t>
            </a:r>
          </a:p>
          <a:p>
            <a:r>
              <a:t>Stockout rate: unmet demand</a:t>
            </a:r>
          </a:p>
          <a:p>
            <a:r>
              <a:t>Food waste percentage: sustainability</a:t>
            </a:r>
          </a:p>
          <a:p>
            <a:r>
              <a:t>Inventory turnover: efficiency</a:t>
            </a:r>
          </a:p>
        </p:txBody>
      </p:sp>
    </p:spTree>
    <p:extLst>
      <p:ext uri="{BB962C8B-B14F-4D97-AF65-F5344CB8AC3E}">
        <p14:creationId xmlns:p14="http://schemas.microsoft.com/office/powerpoint/2010/main" val="2150156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Limitations</a:t>
            </a:r>
            <a:r>
              <a:rPr lang="en-US" sz="4000" dirty="0"/>
              <a:t> &amp; Potenti</a:t>
            </a:r>
            <a:r>
              <a:rPr lang="en-US" sz="4000"/>
              <a:t>al Extensions</a:t>
            </a:r>
            <a:r>
              <a:rPr sz="4000" dirty="0"/>
              <a:t> of the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Limitations:</a:t>
            </a:r>
            <a:endParaRPr lang="en-US" b="1" dirty="0"/>
          </a:p>
          <a:p>
            <a:r>
              <a:t>Synthetic demand data</a:t>
            </a:r>
          </a:p>
          <a:p>
            <a:r>
              <a:t>No supplier constraints modeled</a:t>
            </a:r>
          </a:p>
          <a:p>
            <a:r>
              <a:t>Fixed lead times and costs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/>
              <a:t>Potential Extensions:</a:t>
            </a:r>
            <a:endParaRPr lang="en-US" b="1" dirty="0"/>
          </a:p>
          <a:p>
            <a:pPr>
              <a:buFont typeface="Arial"/>
              <a:buChar char="•"/>
            </a:pPr>
            <a:r>
              <a:rPr lang="en-US"/>
              <a:t>Real POS data integration</a:t>
            </a:r>
          </a:p>
          <a:p>
            <a:pPr>
              <a:buFont typeface="Arial"/>
              <a:buChar char="•"/>
            </a:pPr>
            <a:r>
              <a:rPr lang="en-US"/>
              <a:t>Multiple restaurants</a:t>
            </a:r>
          </a:p>
          <a:p>
            <a:pPr>
              <a:buFont typeface="Arial"/>
              <a:buChar char="•"/>
            </a:pPr>
            <a:r>
              <a:rPr lang="en-US"/>
              <a:t>Weather and promotion effects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demonstrates end-to-end design</a:t>
            </a:r>
          </a:p>
          <a:p>
            <a:r>
              <a:t>Emphasis on explainability and structure</a:t>
            </a:r>
          </a:p>
          <a:p>
            <a:r>
              <a:t>AI used as decision support, not replacement</a:t>
            </a:r>
          </a:p>
          <a:p>
            <a:r>
              <a:t>Foundation for more advanced systems</a:t>
            </a:r>
          </a:p>
        </p:txBody>
      </p:sp>
    </p:spTree>
    <p:extLst>
      <p:ext uri="{BB962C8B-B14F-4D97-AF65-F5344CB8AC3E}">
        <p14:creationId xmlns:p14="http://schemas.microsoft.com/office/powerpoint/2010/main" val="10422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AI-Based Demand Forecasting &amp; Inventory Optimization</vt:lpstr>
      <vt:lpstr>Motivation and Context</vt:lpstr>
      <vt:lpstr>Problem Statement</vt:lpstr>
      <vt:lpstr>Objectives</vt:lpstr>
      <vt:lpstr>Scope &amp; Assumptions</vt:lpstr>
      <vt:lpstr>System Architecture</vt:lpstr>
      <vt:lpstr>Dataset Design</vt:lpstr>
      <vt:lpstr>Why Synthetic Data?</vt:lpstr>
      <vt:lpstr>How the Dataset Was Built</vt:lpstr>
      <vt:lpstr>Feature Engineering Process</vt:lpstr>
      <vt:lpstr>Demand Forcasting Approach</vt:lpstr>
      <vt:lpstr>AI Forecast Workflow</vt:lpstr>
      <vt:lpstr>Inventory Decision Philosophy</vt:lpstr>
      <vt:lpstr>Handling Perishability</vt:lpstr>
      <vt:lpstr>Simulation</vt:lpstr>
      <vt:lpstr>Why Simulation Instead of only Optimization?</vt:lpstr>
      <vt:lpstr>Evaluation Metrics </vt:lpstr>
      <vt:lpstr>Limitations &amp; Potential Extensions of the Prototype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</cp:revision>
  <dcterms:created xsi:type="dcterms:W3CDTF">2026-04-07T19:50:58Z</dcterms:created>
  <dcterms:modified xsi:type="dcterms:W3CDTF">2026-04-07T23:52:57Z</dcterms:modified>
</cp:coreProperties>
</file>
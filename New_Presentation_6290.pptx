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ChrisG5:Users:christopher:Desktop:Concordia%20Powerpoint:New_Concordia_PPT-1.jpg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ChrisG5:Users:christopher:Desktop:Concordia Powerpoint:New_Concordia_PPT-1.jpg">
            <a:extLst>
              <a:ext uri="{FF2B5EF4-FFF2-40B4-BE49-F238E27FC236}">
                <a16:creationId xmlns:a16="http://schemas.microsoft.com/office/drawing/2014/main" id="{A109E736-E2A9-8E92-702F-B1F04D0E497D}"/>
              </a:ext>
            </a:extLst>
          </p:cNvPr>
          <p:cNvPicPr>
            <a:picLocks noChangeAspect="1" noChangeArrowheads="1"/>
          </p:cNvPicPr>
          <p:nvPr/>
        </p:nvPicPr>
        <p:blipFill>
          <a:blip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00400" y="2133600"/>
            <a:ext cx="5257800" cy="1295400"/>
          </a:xfrm>
        </p:spPr>
        <p:txBody>
          <a:bodyPr anchor="ctr"/>
          <a:lstStyle>
            <a:lvl1pPr algn="l">
              <a:defRPr sz="2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00400" y="3886200"/>
            <a:ext cx="5257800" cy="2133600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32537678"/>
      </p:ext>
    </p:extLst>
  </p:cSld>
  <p:clrMapOvr>
    <a:masterClrMapping/>
  </p:clrMapOvr>
  <p:transition spd="slow">
    <p:newsfla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3023268"/>
      </p:ext>
    </p:extLst>
  </p:cSld>
  <p:clrMapOvr>
    <a:masterClrMapping/>
  </p:clrMapOvr>
  <p:transition spd="slow">
    <p:newsfla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6019413"/>
      </p:ext>
    </p:extLst>
  </p:cSld>
  <p:clrMapOvr>
    <a:masterClrMapping/>
  </p:clrMapOvr>
  <p:transition spd="slow">
    <p:newsfla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1161907"/>
      </p:ext>
    </p:extLst>
  </p:cSld>
  <p:clrMapOvr>
    <a:masterClrMapping/>
  </p:clrMapOvr>
  <p:transition spd="slow">
    <p:newsfla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014654"/>
      </p:ext>
    </p:extLst>
  </p:cSld>
  <p:clrMapOvr>
    <a:masterClrMapping/>
  </p:clrMapOvr>
  <p:transition spd="slow">
    <p:newsfla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872423"/>
      </p:ext>
    </p:extLst>
  </p:cSld>
  <p:clrMapOvr>
    <a:masterClrMapping/>
  </p:clrMapOvr>
  <p:transition spd="slow">
    <p:newsfla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280309"/>
      </p:ext>
    </p:extLst>
  </p:cSld>
  <p:clrMapOvr>
    <a:masterClrMapping/>
  </p:clrMapOvr>
  <p:transition spd="slow">
    <p:newsfla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7109905"/>
      </p:ext>
    </p:extLst>
  </p:cSld>
  <p:clrMapOvr>
    <a:masterClrMapping/>
  </p:clrMapOvr>
  <p:transition spd="slow">
    <p:newsfla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4739163"/>
      </p:ext>
    </p:extLst>
  </p:cSld>
  <p:clrMapOvr>
    <a:masterClrMapping/>
  </p:clrMapOvr>
  <p:transition spd="slow">
    <p:newsfla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2508417"/>
      </p:ext>
    </p:extLst>
  </p:cSld>
  <p:clrMapOvr>
    <a:masterClrMapping/>
  </p:clrMapOvr>
  <p:transition spd="slow">
    <p:newsfla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9699308"/>
      </p:ext>
    </p:extLst>
  </p:cSld>
  <p:clrMapOvr>
    <a:masterClrMapping/>
  </p:clrMapOvr>
  <p:transition spd="slow">
    <p:newsfla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754537"/>
      </p:ext>
    </p:extLst>
  </p:cSld>
  <p:clrMapOvr>
    <a:masterClrMapping/>
  </p:clrMapOvr>
  <p:transition spd="slow">
    <p:newsfla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8135954"/>
      </p:ext>
    </p:extLst>
  </p:cSld>
  <p:clrMapOvr>
    <a:masterClrMapping/>
  </p:clrMapOvr>
  <p:transition spd="slow">
    <p:newsfla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ChrisG5:Users:christopher:Desktop:Concordia%20Powerpoint:New_Concordia_PPT-2.jpg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ChrisG5:Users:christopher:Desktop:Concordia Powerpoint:New_Concordia_PPT-2.jpg">
            <a:extLst>
              <a:ext uri="{FF2B5EF4-FFF2-40B4-BE49-F238E27FC236}">
                <a16:creationId xmlns:a16="http://schemas.microsoft.com/office/drawing/2014/main" id="{98906E82-BE97-9026-4F15-E2EBB674B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r:link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860D4F52-CC55-429A-1026-AEC171E48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87DE8462-F839-E62C-8207-B507BDC58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96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newsflash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782336"/>
          </a:solidFill>
          <a:latin typeface="GillSans Bold" pitchFamily="1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1C95-3BB7-5796-F517-B45D82B6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78464"/>
            <a:ext cx="7772400" cy="1733107"/>
          </a:xfrm>
          <a:blipFill>
            <a:blip r:embed="rId2">
              <a:alphaModFix amt="78133"/>
            </a:blip>
            <a:tile tx="0" ty="0" sx="100000" sy="100000" flip="none" algn="tl"/>
          </a:blipFill>
        </p:spPr>
        <p:txBody>
          <a:bodyPr/>
          <a:lstStyle/>
          <a:p>
            <a:r>
              <a:rPr lang="en-CA" dirty="0"/>
              <a:t>INSE 6290</a:t>
            </a:r>
            <a:br>
              <a:rPr lang="en-CA" dirty="0"/>
            </a:br>
            <a:r>
              <a:rPr lang="en-CA" dirty="0"/>
              <a:t>AI-Based Demand Forecasting &amp; Inventory Optimization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F61764D-32A7-9642-42AB-54D22605B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909956"/>
              </p:ext>
            </p:extLst>
          </p:nvPr>
        </p:nvGraphicFramePr>
        <p:xfrm>
          <a:off x="685800" y="2733040"/>
          <a:ext cx="777239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3037">
                  <a:extLst>
                    <a:ext uri="{9D8B030D-6E8A-4147-A177-3AD203B41FA5}">
                      <a16:colId xmlns:a16="http://schemas.microsoft.com/office/drawing/2014/main" val="4157794472"/>
                    </a:ext>
                  </a:extLst>
                </a:gridCol>
                <a:gridCol w="3939361">
                  <a:extLst>
                    <a:ext uri="{9D8B030D-6E8A-4147-A177-3AD203B41FA5}">
                      <a16:colId xmlns:a16="http://schemas.microsoft.com/office/drawing/2014/main" val="1064077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27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Md Golam </a:t>
                      </a:r>
                      <a:r>
                        <a:rPr lang="en-CA" dirty="0" err="1"/>
                        <a:t>Raiyhan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40310101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8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Shadid Alam Al Huda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40334643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34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Afsana Tasnim Nishat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40311862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Dylan Zuzarte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40301182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6291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D04F40-67CC-3D24-2F29-2598A9C02CA8}"/>
              </a:ext>
            </a:extLst>
          </p:cNvPr>
          <p:cNvSpPr txBox="1"/>
          <p:nvPr/>
        </p:nvSpPr>
        <p:spPr>
          <a:xfrm>
            <a:off x="685797" y="2271375"/>
            <a:ext cx="4162649" cy="4616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yuthaya" pitchFamily="2" charset="-34"/>
                <a:ea typeface="Ayuthaya" pitchFamily="2" charset="-34"/>
                <a:cs typeface="Ayuthaya" pitchFamily="2" charset="-34"/>
              </a:rPr>
              <a:t>Prepared By :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Ayuthaya" pitchFamily="2" charset="-34"/>
                <a:ea typeface="Ayuthaya" pitchFamily="2" charset="-34"/>
                <a:cs typeface="Ayuthaya" pitchFamily="2" charset="-34"/>
              </a:rPr>
              <a:t>Group 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744F7-260F-F812-1905-A3F34233F1F7}"/>
              </a:ext>
            </a:extLst>
          </p:cNvPr>
          <p:cNvSpPr txBox="1"/>
          <p:nvPr/>
        </p:nvSpPr>
        <p:spPr>
          <a:xfrm>
            <a:off x="685797" y="5677786"/>
            <a:ext cx="2966484" cy="461665"/>
          </a:xfrm>
          <a:prstGeom prst="rect">
            <a:avLst/>
          </a:prstGeom>
          <a:blipFill dpi="0" rotWithShape="1">
            <a:blip r:embed="rId2">
              <a:alphaModFix amt="42000"/>
            </a:blip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dirty="0"/>
              <a:t>Winter 2026</a:t>
            </a:r>
          </a:p>
        </p:txBody>
      </p:sp>
    </p:spTree>
    <p:extLst>
      <p:ext uri="{BB962C8B-B14F-4D97-AF65-F5344CB8AC3E}">
        <p14:creationId xmlns:p14="http://schemas.microsoft.com/office/powerpoint/2010/main" val="1921478477"/>
      </p:ext>
    </p:extLst>
  </p:cSld>
  <p:clrMapOvr>
    <a:masterClrMapping/>
  </p:clrMapOvr>
  <p:transition spd="slow">
    <p:newsfla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47060"/>
          </a:xfrm>
          <a:blipFill dpi="0" rotWithShape="1">
            <a:blip r:embed="rId2">
              <a:alphaModFix amt="78133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Motivation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 Food delivery demand is volatile and hard to predict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 Ingredients are perishable and costly to waste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 Managers need structured decision support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 Goal: Build AI-based inventory optimization prototype</a:t>
            </a:r>
          </a:p>
        </p:txBody>
      </p:sp>
    </p:spTree>
  </p:cSld>
  <p:clrMapOvr>
    <a:masterClrMapping/>
  </p:clrMapOvr>
  <p:transition spd="slow">
    <p:newsfla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83265"/>
          </a:xfrm>
          <a:blipFill>
            <a:blip r:embed="rId2">
              <a:alphaModFix amt="80000"/>
            </a:blip>
            <a:tile tx="0" ty="0" sx="100000" sy="100000" flip="none" algn="tl"/>
          </a:blipFill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Demand uncertainty</a:t>
            </a:r>
          </a:p>
          <a:p>
            <a:pPr marL="0" indent="0">
              <a:buNone/>
            </a:pPr>
            <a:r>
              <a:rPr dirty="0"/>
              <a:t>• Perishable inventory</a:t>
            </a:r>
          </a:p>
          <a:p>
            <a:pPr marL="0" indent="0">
              <a:buNone/>
            </a:pPr>
            <a:r>
              <a:rPr dirty="0"/>
              <a:t>• Stockouts vs waste trade-off</a:t>
            </a:r>
          </a:p>
          <a:p>
            <a:pPr marL="0" indent="0">
              <a:buNone/>
            </a:pPr>
            <a:r>
              <a:rPr dirty="0"/>
              <a:t>• Manual planning limitations</a:t>
            </a:r>
          </a:p>
        </p:txBody>
      </p:sp>
    </p:spTree>
  </p:cSld>
  <p:clrMapOvr>
    <a:masterClrMapping/>
  </p:clrMapOvr>
  <p:transition spd="slow">
    <p:newsfla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72633"/>
          </a:xfrm>
          <a:blipFill>
            <a:blip r:embed="rId2">
              <a:alphaModFix amt="80000"/>
            </a:blip>
            <a:tile tx="0" ty="0" sx="100000" sy="100000" flip="none" algn="tl"/>
          </a:blipFill>
        </p:spPr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dirty="0"/>
              <a:t>Forecast daily demand for menu items</a:t>
            </a:r>
          </a:p>
          <a:p>
            <a:pPr>
              <a:buFont typeface="Wingdings" pitchFamily="2" charset="2"/>
              <a:buChar char="§"/>
            </a:pPr>
            <a:r>
              <a:rPr dirty="0"/>
              <a:t> Compare baseline vs AI forecasting</a:t>
            </a:r>
          </a:p>
          <a:p>
            <a:pPr>
              <a:buFont typeface="Wingdings" pitchFamily="2" charset="2"/>
              <a:buChar char="§"/>
            </a:pPr>
            <a:r>
              <a:rPr dirty="0"/>
              <a:t> Optimize inventory replenishment</a:t>
            </a:r>
          </a:p>
          <a:p>
            <a:pPr>
              <a:buFont typeface="Wingdings" pitchFamily="2" charset="2"/>
              <a:buChar char="§"/>
            </a:pPr>
            <a:r>
              <a:rPr dirty="0"/>
              <a:t> Simulate daily supply chain operations</a:t>
            </a:r>
          </a:p>
          <a:p>
            <a:pPr>
              <a:buFont typeface="Wingdings" pitchFamily="2" charset="2"/>
              <a:buChar char="§"/>
            </a:pPr>
            <a:r>
              <a:rPr dirty="0"/>
              <a:t> Evaluate performance using supply chain KPIs</a:t>
            </a:r>
          </a:p>
        </p:txBody>
      </p:sp>
    </p:spTree>
  </p:cSld>
  <p:clrMapOvr>
    <a:masterClrMapping/>
  </p:clrMapOvr>
  <p:transition spd="slow">
    <p:newsfla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04530"/>
          </a:xfrm>
          <a:blipFill>
            <a:blip r:embed="rId2">
              <a:alphaModFix amt="80000"/>
            </a:blip>
            <a:tile tx="0" ty="0" sx="100000" sy="100000" flip="none" algn="tl"/>
          </a:blipFill>
        </p:spPr>
        <p:txBody>
          <a:bodyPr/>
          <a:lstStyle/>
          <a:p>
            <a:r>
              <a:t>Scope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Single restaurant / cloud kitchen</a:t>
            </a:r>
          </a:p>
          <a:p>
            <a:r>
              <a:rPr dirty="0"/>
              <a:t> 10 menu items</a:t>
            </a:r>
          </a:p>
          <a:p>
            <a:r>
              <a:rPr dirty="0"/>
              <a:t> Daily demand planning</a:t>
            </a:r>
          </a:p>
          <a:p>
            <a:r>
              <a:rPr dirty="0"/>
              <a:t> One-day lead time</a:t>
            </a:r>
          </a:p>
          <a:p>
            <a:r>
              <a:rPr dirty="0"/>
              <a:t> Perishable inventory (3–4 days shelf life)</a:t>
            </a:r>
          </a:p>
          <a:p>
            <a:r>
              <a:rPr dirty="0"/>
              <a:t> 14-day simulation horizon</a:t>
            </a:r>
          </a:p>
        </p:txBody>
      </p:sp>
    </p:spTree>
  </p:cSld>
  <p:clrMapOvr>
    <a:masterClrMapping/>
  </p:clrMapOvr>
  <p:transition spd="slow">
    <p:newsfla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blipFill>
            <a:blip r:embed="rId2">
              <a:alphaModFix amt="80000"/>
            </a:blip>
            <a:tile tx="0" ty="0" sx="100000" sy="100000" flip="none" algn="tl"/>
          </a:blipFill>
        </p:spPr>
        <p:txBody>
          <a:bodyPr wrap="square" anchor="t">
            <a:normAutofit/>
          </a:bodyPr>
          <a:lstStyle/>
          <a:p>
            <a:r>
              <a:rPr dirty="0"/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C25CEE-9EDF-08FD-7B64-03753DBC0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800" y="2435543"/>
            <a:ext cx="7772400" cy="3206114"/>
          </a:xfrm>
          <a:noFill/>
        </p:spPr>
      </p:pic>
    </p:spTree>
  </p:cSld>
  <p:clrMapOvr>
    <a:masterClrMapping/>
  </p:clrMapOvr>
  <p:transition spd="slow">
    <p:newsfla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40735"/>
          </a:xfrm>
          <a:blipFill dpi="0" rotWithShape="1">
            <a:blip r:embed="rId2">
              <a:alphaModFix amt="80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t>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itchFamily="2" charset="2"/>
              <a:buChar char="ü"/>
            </a:pPr>
            <a:r>
              <a:rPr dirty="0"/>
              <a:t>90-day daily dataset</a:t>
            </a:r>
          </a:p>
          <a:p>
            <a:pPr algn="ctr">
              <a:buFont typeface="Wingdings" pitchFamily="2" charset="2"/>
              <a:buChar char="ü"/>
            </a:pPr>
            <a:r>
              <a:rPr dirty="0"/>
              <a:t> 900 observations</a:t>
            </a:r>
          </a:p>
          <a:p>
            <a:pPr algn="ctr">
              <a:buFont typeface="Wingdings" pitchFamily="2" charset="2"/>
              <a:buChar char="ü"/>
            </a:pPr>
            <a:r>
              <a:rPr dirty="0"/>
              <a:t> Weekly seasonality and noise</a:t>
            </a:r>
          </a:p>
          <a:p>
            <a:pPr algn="ctr">
              <a:buFont typeface="Wingdings" pitchFamily="2" charset="2"/>
              <a:buChar char="ü"/>
            </a:pPr>
            <a:r>
              <a:rPr dirty="0"/>
              <a:t> 69-day training, 14-day testing</a:t>
            </a:r>
          </a:p>
        </p:txBody>
      </p:sp>
    </p:spTree>
  </p:cSld>
  <p:clrMapOvr>
    <a:masterClrMapping/>
  </p:clrMapOvr>
  <p:transition spd="slow">
    <p:newsfla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25795"/>
          </a:xfrm>
          <a:blipFill dpi="0" rotWithShape="1">
            <a:blip r:embed="rId2">
              <a:alphaModFix amt="82705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Why Synthetic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access to real restaurant POS data</a:t>
            </a:r>
          </a:p>
          <a:p>
            <a:r>
              <a:rPr dirty="0"/>
              <a:t> Synthetic data allows controlled experimentation</a:t>
            </a:r>
          </a:p>
          <a:p>
            <a:r>
              <a:rPr dirty="0"/>
              <a:t> Patterns designed to mimic real behavior</a:t>
            </a:r>
          </a:p>
          <a:p>
            <a:r>
              <a:rPr dirty="0"/>
              <a:t> Ensures reproducibility and transparency</a:t>
            </a:r>
          </a:p>
        </p:txBody>
      </p:sp>
    </p:spTree>
  </p:cSld>
  <p:clrMapOvr>
    <a:masterClrMapping/>
  </p:clrMapOvr>
  <p:transition spd="slow">
    <p:newsfla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blipFill dpi="0" rotWithShape="1">
            <a:blip r:embed="rId2">
              <a:alphaModFix amt="79058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t>How the Dataset Was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dirty="0"/>
              <a:t> Generated 90 days of daily demand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Included weekly seasonality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Weekend and promotion effects added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Random noise models demand uncertainty</a:t>
            </a:r>
          </a:p>
        </p:txBody>
      </p:sp>
    </p:spTree>
  </p:cSld>
  <p:clrMapOvr>
    <a:masterClrMapping/>
  </p:clrMapOvr>
  <p:transition spd="slow">
    <p:newsfla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51367"/>
          </a:xfrm>
          <a:blipFill dpi="0" rotWithShape="1">
            <a:blip r:embed="rId2">
              <a:alphaModFix amt="7199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t>Feature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dirty="0"/>
              <a:t> Converted raw demand into learning features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Lag variables capture recent history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Rolling averages smooth short-term noise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Calendar features encode weekday patterns</a:t>
            </a:r>
          </a:p>
        </p:txBody>
      </p:sp>
    </p:spTree>
  </p:cSld>
  <p:clrMapOvr>
    <a:masterClrMapping/>
  </p:clrMapOvr>
  <p:transition spd="slow">
    <p:newsfla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blipFill dpi="0" rotWithShape="1">
            <a:blip r:embed="rId2">
              <a:alphaModFix amt="61505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Demand Forecasting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242" y="1371600"/>
            <a:ext cx="7894674" cy="5114260"/>
          </a:xfrm>
        </p:spPr>
        <p:txBody>
          <a:bodyPr/>
          <a:lstStyle/>
          <a:p>
            <a:pPr marL="0" indent="0">
              <a:buNone/>
            </a:pPr>
            <a:r>
              <a:rPr sz="3200" dirty="0">
                <a:solidFill>
                  <a:srgbClr val="7030A0"/>
                </a:solidFill>
              </a:rPr>
              <a:t>Baseline Forecast Logic:</a:t>
            </a:r>
          </a:p>
          <a:p>
            <a:pPr marL="0" indent="0">
              <a:buNone/>
            </a:pPr>
            <a:r>
              <a:rPr lang="en-CA" dirty="0"/>
              <a:t>	•</a:t>
            </a:r>
            <a:r>
              <a:rPr dirty="0"/>
              <a:t> Uses demand from one week earlier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Simple and transparent heuristic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Represents common operational practice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Serves as performance benchmark</a:t>
            </a:r>
          </a:p>
          <a:p>
            <a:endParaRPr dirty="0"/>
          </a:p>
          <a:p>
            <a:pPr marL="0" indent="0">
              <a:buNone/>
            </a:pPr>
            <a:r>
              <a:rPr sz="3200" dirty="0">
                <a:solidFill>
                  <a:srgbClr val="7030A0"/>
                </a:solidFill>
              </a:rPr>
              <a:t>Random Forest regressor: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Works well with structured tabular data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Captures non-linear relationships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Robust with limited data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Easy to interpret feature importance</a:t>
            </a:r>
          </a:p>
        </p:txBody>
      </p:sp>
    </p:spTree>
  </p:cSld>
  <p:clrMapOvr>
    <a:masterClrMapping/>
  </p:clrMapOvr>
  <p:transition spd="slow">
    <p:newsfla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19470"/>
          </a:xfrm>
          <a:blipFill dpi="0" rotWithShape="1">
            <a:blip r:embed="rId2">
              <a:alphaModFix amt="58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AI Forecast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dirty="0"/>
              <a:t> Train model on historical features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Generate daily demand predictions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Estimate forecast uncertainty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 Pass forecasts to inventory decision model</a:t>
            </a:r>
          </a:p>
        </p:txBody>
      </p:sp>
    </p:spTree>
  </p:cSld>
  <p:clrMapOvr>
    <a:masterClrMapping/>
  </p:clrMapOvr>
  <p:transition spd="slow">
    <p:newsfla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1947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Inventory Decision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451498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dirty="0">
                <a:solidFill>
                  <a:srgbClr val="0070C0"/>
                </a:solidFill>
              </a:rPr>
              <a:t>Objective: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Determine optimal order quantity for each menu </a:t>
            </a:r>
            <a:r>
              <a:rPr lang="en-CA" dirty="0"/>
              <a:t>		   </a:t>
            </a:r>
            <a:r>
              <a:rPr dirty="0"/>
              <a:t>item</a:t>
            </a:r>
          </a:p>
          <a:p>
            <a:pPr>
              <a:buFont typeface="Wingdings" pitchFamily="2" charset="2"/>
              <a:buChar char="v"/>
            </a:pPr>
            <a:r>
              <a:rPr dirty="0">
                <a:solidFill>
                  <a:srgbClr val="0070C0"/>
                </a:solidFill>
              </a:rPr>
              <a:t>Method Used: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Demand forecasting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Newsvendor inventory optimization policy</a:t>
            </a:r>
          </a:p>
          <a:p>
            <a:endParaRPr dirty="0"/>
          </a:p>
          <a:p>
            <a:pPr>
              <a:buFont typeface="Wingdings" pitchFamily="2" charset="2"/>
              <a:buChar char="v"/>
            </a:pPr>
            <a:r>
              <a:rPr dirty="0">
                <a:solidFill>
                  <a:srgbClr val="0070C0"/>
                </a:solidFill>
              </a:rPr>
              <a:t>Optimization Formula: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Order Quantity = Forecast Demand + Safety Buffer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Q = </a:t>
            </a:r>
            <a:r>
              <a:rPr dirty="0" err="1"/>
              <a:t>μ</a:t>
            </a:r>
            <a:r>
              <a:rPr dirty="0"/>
              <a:t> + </a:t>
            </a:r>
            <a:r>
              <a:rPr dirty="0" err="1"/>
              <a:t>zσ</a:t>
            </a:r>
            <a:endParaRPr dirty="0"/>
          </a:p>
          <a:p>
            <a:endParaRPr dirty="0"/>
          </a:p>
          <a:p>
            <a:r>
              <a:rPr dirty="0"/>
              <a:t>Purpose:</a:t>
            </a:r>
          </a:p>
          <a:p>
            <a:r>
              <a:rPr dirty="0"/>
              <a:t>• Reduce over-ordering</a:t>
            </a:r>
          </a:p>
          <a:p>
            <a:r>
              <a:rPr dirty="0"/>
              <a:t>• Reduce stockouts</a:t>
            </a:r>
          </a:p>
          <a:p>
            <a:r>
              <a:rPr dirty="0"/>
              <a:t>• Improve inventory efficiency</a:t>
            </a:r>
          </a:p>
        </p:txBody>
      </p:sp>
    </p:spTree>
  </p:cSld>
  <p:clrMapOvr>
    <a:masterClrMapping/>
  </p:clrMapOvr>
  <p:transition spd="slow">
    <p:newsfla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15163"/>
          </a:xfrm>
          <a:blipFill dpi="0" rotWithShape="1">
            <a:blip r:embed="rId2">
              <a:alphaModFix amt="6100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Handling Perishability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Inventory tracked by age buckets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Oldest units consumed first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Expired items counted as waste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New orders added as freshest stock</a:t>
            </a:r>
          </a:p>
        </p:txBody>
      </p:sp>
    </p:spTree>
  </p:cSld>
  <p:clrMapOvr>
    <a:masterClrMapping/>
  </p:clrMapOvr>
  <p:transition spd="slow">
    <p:newsfla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51367"/>
          </a:xfrm>
          <a:blipFill dpi="0" rotWithShape="1">
            <a:blip r:embed="rId2">
              <a:alphaModFix amt="72438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181" y="1600200"/>
            <a:ext cx="8431619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3200" dirty="0">
                <a:solidFill>
                  <a:srgbClr val="7030A0"/>
                </a:solidFill>
              </a:rPr>
              <a:t>Purpose of Simulation:</a:t>
            </a:r>
            <a:endParaRPr lang="en-CA" sz="3200" dirty="0">
              <a:solidFill>
                <a:srgbClr val="7030A0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CA" dirty="0"/>
              <a:t>	</a:t>
            </a:r>
            <a:r>
              <a:rPr dirty="0"/>
              <a:t>Evaluate inventory decisions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sz="3200" dirty="0">
                <a:solidFill>
                  <a:srgbClr val="7030A0"/>
                </a:solidFill>
              </a:rPr>
              <a:t>Simulation Steps: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Forecast demand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Calculate optimal order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Update inventory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Meet customer demand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Track waste and stockouts</a:t>
            </a:r>
          </a:p>
          <a:p>
            <a:endParaRPr dirty="0"/>
          </a:p>
          <a:p>
            <a:pPr marL="0" indent="0">
              <a:buNone/>
            </a:pPr>
            <a:r>
              <a:rPr sz="3500" dirty="0">
                <a:solidFill>
                  <a:srgbClr val="7030A0"/>
                </a:solidFill>
              </a:rPr>
              <a:t>Simulation Horizon: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14-day operational simulation</a:t>
            </a:r>
          </a:p>
        </p:txBody>
      </p:sp>
    </p:spTree>
  </p:cSld>
  <p:clrMapOvr>
    <a:masterClrMapping/>
  </p:clrMapOvr>
  <p:transition spd="slow">
    <p:newsfla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311" y="0"/>
            <a:ext cx="7772400" cy="1143000"/>
          </a:xfrm>
          <a:blipFill dpi="0" rotWithShape="1">
            <a:blip r:embed="rId2">
              <a:alphaModFix amt="71723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Why Simulation Instead of only Optimization?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353" y="1258185"/>
            <a:ext cx="7772400" cy="5312735"/>
          </a:xfrm>
        </p:spPr>
        <p:txBody>
          <a:bodyPr/>
          <a:lstStyle/>
          <a:p>
            <a:pPr marL="0" indent="0">
              <a:buNone/>
            </a:pPr>
            <a:r>
              <a:rPr lang="en-CA" sz="3200" dirty="0">
                <a:solidFill>
                  <a:srgbClr val="7030A0"/>
                </a:solidFill>
              </a:rPr>
              <a:t>   </a:t>
            </a:r>
            <a:r>
              <a:rPr sz="3200" dirty="0">
                <a:solidFill>
                  <a:srgbClr val="7030A0"/>
                </a:solidFill>
              </a:rPr>
              <a:t>Optimization alone: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Assumes perfect conditions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Does not capture real operational uncertainty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Cannot evaluate daily inventory behavior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Does not measure waste and stockouts over time</a:t>
            </a:r>
          </a:p>
          <a:p>
            <a:pPr marL="0" indent="0">
              <a:buNone/>
            </a:pPr>
            <a:r>
              <a:rPr lang="en-CA" sz="3200" dirty="0"/>
              <a:t>   </a:t>
            </a:r>
            <a:r>
              <a:rPr sz="3200" dirty="0">
                <a:solidFill>
                  <a:srgbClr val="7030A0"/>
                </a:solidFill>
              </a:rPr>
              <a:t>Simulation allows us to: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Test inventory decisions in realistic conditions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Model demand variability and uncertainty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Track perishable inventory and food </a:t>
            </a:r>
            <a:r>
              <a:rPr dirty="0" err="1"/>
              <a:t>wast</a:t>
            </a:r>
            <a:r>
              <a:rPr lang="en-CA" dirty="0"/>
              <a:t>e</a:t>
            </a:r>
            <a:endParaRPr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Evaluate daily supply chain operations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Compare baseline vs AI-based decisions</a:t>
            </a:r>
          </a:p>
        </p:txBody>
      </p:sp>
    </p:spTree>
  </p:cSld>
  <p:clrMapOvr>
    <a:masterClrMapping/>
  </p:clrMapOvr>
  <p:transition spd="slow">
    <p:newsfla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088" y="509477"/>
            <a:ext cx="7772400" cy="883388"/>
          </a:xfrm>
          <a:blipFill dpi="0" rotWithShape="1">
            <a:blip r:embed="rId2">
              <a:alphaModFix amt="56217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088" y="1652477"/>
            <a:ext cx="7772400" cy="4114800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• Fill rate: service performance</a:t>
            </a:r>
          </a:p>
          <a:p>
            <a:pPr marL="0" indent="0" algn="ctr">
              <a:buNone/>
            </a:pPr>
            <a:r>
              <a:rPr dirty="0"/>
              <a:t>• Stockout rate: unmet demand</a:t>
            </a:r>
          </a:p>
          <a:p>
            <a:pPr marL="0" indent="0" algn="ctr">
              <a:buNone/>
            </a:pPr>
            <a:r>
              <a:rPr dirty="0"/>
              <a:t>• Food waste percentage: sustainability</a:t>
            </a:r>
          </a:p>
          <a:p>
            <a:pPr marL="0" indent="0" algn="ctr">
              <a:buNone/>
            </a:pPr>
            <a:r>
              <a:rPr dirty="0"/>
              <a:t>• Inventory turnover: efficiency</a:t>
            </a:r>
          </a:p>
        </p:txBody>
      </p:sp>
    </p:spTree>
  </p:cSld>
  <p:clrMapOvr>
    <a:masterClrMapping/>
  </p:clrMapOvr>
  <p:transition spd="slow">
    <p:newsfla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 dpi="0" rotWithShape="1">
            <a:blip r:embed="rId2">
              <a:alphaModFix amt="66924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Limitations &amp; Potential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199"/>
            <a:ext cx="7772400" cy="4366437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 </a:t>
            </a:r>
            <a:r>
              <a:rPr sz="3200" dirty="0">
                <a:solidFill>
                  <a:srgbClr val="7030A0"/>
                </a:solidFill>
              </a:rPr>
              <a:t>Limitations: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Synthetic demand data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No supplier constraints modeled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Fixed lead times and costs</a:t>
            </a:r>
          </a:p>
          <a:p>
            <a:endParaRPr dirty="0"/>
          </a:p>
          <a:p>
            <a:pPr marL="0" indent="0">
              <a:buNone/>
            </a:pPr>
            <a:r>
              <a:rPr lang="en-CA" sz="3200" dirty="0">
                <a:solidFill>
                  <a:srgbClr val="7030A0"/>
                </a:solidFill>
              </a:rPr>
              <a:t>   </a:t>
            </a:r>
            <a:r>
              <a:rPr sz="3200" dirty="0">
                <a:solidFill>
                  <a:srgbClr val="7030A0"/>
                </a:solidFill>
              </a:rPr>
              <a:t>Potential Extensions: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Real POS data integration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Multiple restaurants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dirty="0"/>
              <a:t>• Weather and promotion effects</a:t>
            </a:r>
          </a:p>
        </p:txBody>
      </p:sp>
    </p:spTree>
  </p:cSld>
  <p:clrMapOvr>
    <a:masterClrMapping/>
  </p:clrMapOvr>
  <p:transition spd="slow">
    <p:newsfla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228" y="673396"/>
            <a:ext cx="7772400" cy="708837"/>
          </a:xfrm>
          <a:blipFill dpi="0" rotWithShape="1">
            <a:blip r:embed="rId2">
              <a:alphaModFix amt="46850"/>
            </a:blip>
            <a:srcRect/>
            <a:tile tx="0" ty="0" sx="100000" sy="100000" flip="none" algn="tl"/>
          </a:blip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1846521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dirty="0"/>
              <a:t> Project demonstrates end-to-end design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Emphasis on explainability and structure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AI used as decision support, not replacement</a:t>
            </a:r>
          </a:p>
          <a:p>
            <a:pPr>
              <a:buFont typeface="Wingdings" pitchFamily="2" charset="2"/>
              <a:buChar char="ü"/>
            </a:pPr>
            <a:r>
              <a:rPr dirty="0"/>
              <a:t> Foundation for more advanced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2205D-809D-1321-4BD8-3228DA33D5F2}"/>
              </a:ext>
            </a:extLst>
          </p:cNvPr>
          <p:cNvSpPr txBox="1"/>
          <p:nvPr/>
        </p:nvSpPr>
        <p:spPr>
          <a:xfrm>
            <a:off x="685800" y="4752753"/>
            <a:ext cx="4938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 Rounded MT Bold" panose="020F0704030504030204" pitchFamily="34" charset="77"/>
              </a:rPr>
              <a:t>Thank you</a:t>
            </a:r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Concordia-PPT">
  <a:themeElements>
    <a:clrScheme name="Concordia-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ncordia-PPT">
      <a:majorFont>
        <a:latin typeface="GillSans Bold"/>
        <a:ea typeface=""/>
        <a:cs typeface=""/>
      </a:majorFont>
      <a:minorFont>
        <a:latin typeface="Gil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Concordia-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ordia-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ordia-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42</TotalTime>
  <Words>660</Words>
  <Application>Microsoft Macintosh PowerPoint</Application>
  <PresentationFormat>On-screen Show (4:3)</PresentationFormat>
  <Paragraphs>140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Rounded MT Bold</vt:lpstr>
      <vt:lpstr>Ayuthaya</vt:lpstr>
      <vt:lpstr>Courier New</vt:lpstr>
      <vt:lpstr>Gill Sans</vt:lpstr>
      <vt:lpstr>GillSans Bold</vt:lpstr>
      <vt:lpstr>Times</vt:lpstr>
      <vt:lpstr>Wingdings</vt:lpstr>
      <vt:lpstr>Concordia-PPT</vt:lpstr>
      <vt:lpstr>INSE 6290 AI-Based Demand Forecasting &amp; Inventory Optimization</vt:lpstr>
      <vt:lpstr>Motivation and Context</vt:lpstr>
      <vt:lpstr>Problem Statement</vt:lpstr>
      <vt:lpstr>Objectives</vt:lpstr>
      <vt:lpstr>Scope &amp; Assumptions</vt:lpstr>
      <vt:lpstr>System Architecture</vt:lpstr>
      <vt:lpstr>Dataset Design</vt:lpstr>
      <vt:lpstr>Why Synthetic Data?</vt:lpstr>
      <vt:lpstr>How the Dataset Was Built</vt:lpstr>
      <vt:lpstr>Feature Engineering Process</vt:lpstr>
      <vt:lpstr>Demand Forecasting Approach</vt:lpstr>
      <vt:lpstr>AI Forecast Workflow</vt:lpstr>
      <vt:lpstr>Inventory Decision Philosophy</vt:lpstr>
      <vt:lpstr>Handling Perishability</vt:lpstr>
      <vt:lpstr>Simulation</vt:lpstr>
      <vt:lpstr>Why Simulation Instead of only Optimization?</vt:lpstr>
      <vt:lpstr>Evaluation Metrics</vt:lpstr>
      <vt:lpstr>Limitations &amp; Potential Extensions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Shadid Al Huda</cp:lastModifiedBy>
  <cp:revision>10</cp:revision>
  <dcterms:created xsi:type="dcterms:W3CDTF">2013-01-27T09:14:16Z</dcterms:created>
  <dcterms:modified xsi:type="dcterms:W3CDTF">2026-04-08T01:11:29Z</dcterms:modified>
  <cp:category/>
</cp:coreProperties>
</file>